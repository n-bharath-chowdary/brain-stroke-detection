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Alexandria"/>
      <p:regular r:id="rId18"/>
    </p:embeddedFont>
    <p:embeddedFont>
      <p:font typeface="Alexandria"/>
      <p:regular r:id="rId19"/>
    </p:embeddedFont>
    <p:embeddedFont>
      <p:font typeface="Nobile"/>
      <p:regular r:id="rId20"/>
    </p:embeddedFont>
    <p:embeddedFont>
      <p:font typeface="Nobile"/>
      <p:regular r:id="rId21"/>
    </p:embeddedFont>
    <p:embeddedFont>
      <p:font typeface="Nobile"/>
      <p:regular r:id="rId22"/>
    </p:embeddedFont>
    <p:embeddedFont>
      <p:font typeface="Nobile"/>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745462"/>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Brain Stroke Detection Using Deep Learning</a:t>
            </a:r>
            <a:endParaRPr lang="en-US" sz="4450" dirty="0"/>
          </a:p>
        </p:txBody>
      </p:sp>
      <p:sp>
        <p:nvSpPr>
          <p:cNvPr id="4" name="Text 1"/>
          <p:cNvSpPr/>
          <p:nvPr/>
        </p:nvSpPr>
        <p:spPr>
          <a:xfrm>
            <a:off x="6280190" y="4503182"/>
            <a:ext cx="7556421" cy="362903"/>
          </a:xfrm>
          <a:prstGeom prst="rect">
            <a:avLst/>
          </a:prstGeom>
          <a:noFill/>
          <a:ln/>
        </p:spPr>
        <p:txBody>
          <a:bodyPr wrap="none" lIns="0" tIns="0" rIns="0" bIns="0" rtlCol="0" anchor="t"/>
          <a:lstStyle/>
          <a:p>
            <a:pPr algn="l" indent="0" marL="0">
              <a:lnSpc>
                <a:spcPts val="2850"/>
              </a:lnSpc>
              <a:buNone/>
            </a:pPr>
            <a:r>
              <a:rPr lang="en-US" sz="1750" i="1" dirty="0">
                <a:solidFill>
                  <a:srgbClr val="404155"/>
                </a:solidFill>
                <a:latin typeface="Nobile" pitchFamily="34" charset="0"/>
                <a:ea typeface="Nobile" pitchFamily="34" charset="-122"/>
                <a:cs typeface="Nobile" pitchFamily="34" charset="-120"/>
              </a:rPr>
              <a:t>Revolutionizing Early Diagnosis with AI</a:t>
            </a:r>
            <a:endParaRPr lang="en-US" sz="1750" dirty="0"/>
          </a:p>
        </p:txBody>
      </p:sp>
      <p:sp>
        <p:nvSpPr>
          <p:cNvPr id="5" name="Text 2"/>
          <p:cNvSpPr/>
          <p:nvPr/>
        </p:nvSpPr>
        <p:spPr>
          <a:xfrm>
            <a:off x="6280190" y="5121235"/>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Md Ather Ali</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437442"/>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Introduction to Brain Stroke and Impact</a:t>
            </a:r>
            <a:endParaRPr lang="en-US" sz="4450" dirty="0"/>
          </a:p>
        </p:txBody>
      </p:sp>
      <p:sp>
        <p:nvSpPr>
          <p:cNvPr id="4" name="Shape 1"/>
          <p:cNvSpPr/>
          <p:nvPr/>
        </p:nvSpPr>
        <p:spPr>
          <a:xfrm>
            <a:off x="793790" y="3195161"/>
            <a:ext cx="3664863" cy="2047994"/>
          </a:xfrm>
          <a:prstGeom prst="roundRect">
            <a:avLst>
              <a:gd name="adj" fmla="val 4652"/>
            </a:avLst>
          </a:prstGeom>
          <a:solidFill>
            <a:srgbClr val="D2DDF9"/>
          </a:solidFill>
          <a:ln w="7620">
            <a:solidFill>
              <a:srgbClr val="B8C3DF"/>
            </a:solidFill>
            <a:prstDash val="solid"/>
          </a:ln>
        </p:spPr>
      </p:sp>
      <p:sp>
        <p:nvSpPr>
          <p:cNvPr id="5" name="Text 2"/>
          <p:cNvSpPr/>
          <p:nvPr/>
        </p:nvSpPr>
        <p:spPr>
          <a:xfrm>
            <a:off x="1028224" y="3429595"/>
            <a:ext cx="3195995" cy="708660"/>
          </a:xfrm>
          <a:prstGeom prst="rect">
            <a:avLst/>
          </a:prstGeom>
          <a:noFill/>
          <a:ln/>
        </p:spPr>
        <p:txBody>
          <a:bodyPr wrap="squar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What is a Brain Stroke?</a:t>
            </a:r>
            <a:endParaRPr lang="en-US" sz="2200" dirty="0"/>
          </a:p>
        </p:txBody>
      </p:sp>
      <p:sp>
        <p:nvSpPr>
          <p:cNvPr id="6" name="Text 3"/>
          <p:cNvSpPr/>
          <p:nvPr/>
        </p:nvSpPr>
        <p:spPr>
          <a:xfrm>
            <a:off x="1028224" y="4274344"/>
            <a:ext cx="3195995" cy="725805"/>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Disruption of blood flow causing brain tissue damage.</a:t>
            </a:r>
            <a:endParaRPr lang="en-US" sz="1750" dirty="0"/>
          </a:p>
        </p:txBody>
      </p:sp>
      <p:sp>
        <p:nvSpPr>
          <p:cNvPr id="7" name="Shape 4"/>
          <p:cNvSpPr/>
          <p:nvPr/>
        </p:nvSpPr>
        <p:spPr>
          <a:xfrm>
            <a:off x="4685467" y="3195161"/>
            <a:ext cx="3664863" cy="2047994"/>
          </a:xfrm>
          <a:prstGeom prst="roundRect">
            <a:avLst>
              <a:gd name="adj" fmla="val 4652"/>
            </a:avLst>
          </a:prstGeom>
          <a:solidFill>
            <a:srgbClr val="D2DDF9"/>
          </a:solidFill>
          <a:ln w="7620">
            <a:solidFill>
              <a:srgbClr val="B8C3DF"/>
            </a:solidFill>
            <a:prstDash val="solid"/>
          </a:ln>
        </p:spPr>
      </p:sp>
      <p:sp>
        <p:nvSpPr>
          <p:cNvPr id="8" name="Text 5"/>
          <p:cNvSpPr/>
          <p:nvPr/>
        </p:nvSpPr>
        <p:spPr>
          <a:xfrm>
            <a:off x="4919901" y="3429595"/>
            <a:ext cx="3102054"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Critical Health Impact</a:t>
            </a:r>
            <a:endParaRPr lang="en-US" sz="2200" dirty="0"/>
          </a:p>
        </p:txBody>
      </p:sp>
      <p:sp>
        <p:nvSpPr>
          <p:cNvPr id="9" name="Text 6"/>
          <p:cNvSpPr/>
          <p:nvPr/>
        </p:nvSpPr>
        <p:spPr>
          <a:xfrm>
            <a:off x="4919901" y="3920014"/>
            <a:ext cx="3195995" cy="1088708"/>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Causes long-term disability and high mortality rates worldwide.</a:t>
            </a:r>
            <a:endParaRPr lang="en-US" sz="1750" dirty="0"/>
          </a:p>
        </p:txBody>
      </p:sp>
      <p:sp>
        <p:nvSpPr>
          <p:cNvPr id="10" name="Shape 7"/>
          <p:cNvSpPr/>
          <p:nvPr/>
        </p:nvSpPr>
        <p:spPr>
          <a:xfrm>
            <a:off x="793790" y="5469969"/>
            <a:ext cx="7556421" cy="1322189"/>
          </a:xfrm>
          <a:prstGeom prst="roundRect">
            <a:avLst>
              <a:gd name="adj" fmla="val 7205"/>
            </a:avLst>
          </a:prstGeom>
          <a:solidFill>
            <a:srgbClr val="D2DDF9"/>
          </a:solidFill>
          <a:ln w="7620">
            <a:solidFill>
              <a:srgbClr val="B8C3DF"/>
            </a:solidFill>
            <a:prstDash val="solid"/>
          </a:ln>
        </p:spPr>
      </p:sp>
      <p:sp>
        <p:nvSpPr>
          <p:cNvPr id="11" name="Text 8"/>
          <p:cNvSpPr/>
          <p:nvPr/>
        </p:nvSpPr>
        <p:spPr>
          <a:xfrm>
            <a:off x="1028224" y="5704403"/>
            <a:ext cx="4242911"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Importance of Early Detection</a:t>
            </a:r>
            <a:endParaRPr lang="en-US" sz="2200" dirty="0"/>
          </a:p>
        </p:txBody>
      </p:sp>
      <p:sp>
        <p:nvSpPr>
          <p:cNvPr id="12" name="Text 9"/>
          <p:cNvSpPr/>
          <p:nvPr/>
        </p:nvSpPr>
        <p:spPr>
          <a:xfrm>
            <a:off x="1028224" y="6194822"/>
            <a:ext cx="7087553"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Early diagnosis improves treatment outcomes and saves lives.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473994"/>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Challenges in Traditional Stroke Diagnosis</a:t>
            </a:r>
            <a:endParaRPr lang="en-US" sz="4450" dirty="0"/>
          </a:p>
        </p:txBody>
      </p:sp>
      <p:sp>
        <p:nvSpPr>
          <p:cNvPr id="4" name="Shape 1"/>
          <p:cNvSpPr/>
          <p:nvPr/>
        </p:nvSpPr>
        <p:spPr>
          <a:xfrm>
            <a:off x="6280190" y="3486864"/>
            <a:ext cx="510302" cy="510302"/>
          </a:xfrm>
          <a:prstGeom prst="roundRect">
            <a:avLst>
              <a:gd name="adj" fmla="val 18669"/>
            </a:avLst>
          </a:prstGeom>
          <a:solidFill>
            <a:srgbClr val="D2DDF9"/>
          </a:solidFill>
          <a:ln w="7620">
            <a:solidFill>
              <a:srgbClr val="B8C3DF"/>
            </a:solidFill>
            <a:prstDash val="solid"/>
          </a:ln>
        </p:spPr>
      </p:sp>
      <p:sp>
        <p:nvSpPr>
          <p:cNvPr id="5" name="Text 2"/>
          <p:cNvSpPr/>
          <p:nvPr/>
        </p:nvSpPr>
        <p:spPr>
          <a:xfrm>
            <a:off x="7017306" y="3486864"/>
            <a:ext cx="2927747" cy="708660"/>
          </a:xfrm>
          <a:prstGeom prst="rect">
            <a:avLst/>
          </a:prstGeom>
          <a:noFill/>
          <a:ln/>
        </p:spPr>
        <p:txBody>
          <a:bodyPr wrap="squar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Time-Consuming Process</a:t>
            </a:r>
            <a:endParaRPr lang="en-US" sz="2200" dirty="0"/>
          </a:p>
        </p:txBody>
      </p:sp>
      <p:sp>
        <p:nvSpPr>
          <p:cNvPr id="6" name="Text 3"/>
          <p:cNvSpPr/>
          <p:nvPr/>
        </p:nvSpPr>
        <p:spPr>
          <a:xfrm>
            <a:off x="7017306" y="4331613"/>
            <a:ext cx="2927747" cy="1088708"/>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Manual evaluations delay crucial treatment decisions.</a:t>
            </a:r>
            <a:endParaRPr lang="en-US" sz="1750" dirty="0"/>
          </a:p>
        </p:txBody>
      </p:sp>
      <p:sp>
        <p:nvSpPr>
          <p:cNvPr id="7" name="Shape 4"/>
          <p:cNvSpPr/>
          <p:nvPr/>
        </p:nvSpPr>
        <p:spPr>
          <a:xfrm>
            <a:off x="10171867" y="3486864"/>
            <a:ext cx="510302" cy="510302"/>
          </a:xfrm>
          <a:prstGeom prst="roundRect">
            <a:avLst>
              <a:gd name="adj" fmla="val 18669"/>
            </a:avLst>
          </a:prstGeom>
          <a:solidFill>
            <a:srgbClr val="D2DDF9"/>
          </a:solidFill>
          <a:ln w="7620">
            <a:solidFill>
              <a:srgbClr val="B8C3DF"/>
            </a:solidFill>
            <a:prstDash val="solid"/>
          </a:ln>
        </p:spPr>
      </p:sp>
      <p:sp>
        <p:nvSpPr>
          <p:cNvPr id="8" name="Text 5"/>
          <p:cNvSpPr/>
          <p:nvPr/>
        </p:nvSpPr>
        <p:spPr>
          <a:xfrm>
            <a:off x="10908983" y="3486864"/>
            <a:ext cx="2927747" cy="708660"/>
          </a:xfrm>
          <a:prstGeom prst="rect">
            <a:avLst/>
          </a:prstGeom>
          <a:noFill/>
          <a:ln/>
        </p:spPr>
        <p:txBody>
          <a:bodyPr wrap="squar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Expertise Dependent</a:t>
            </a:r>
            <a:endParaRPr lang="en-US" sz="2200" dirty="0"/>
          </a:p>
        </p:txBody>
      </p:sp>
      <p:sp>
        <p:nvSpPr>
          <p:cNvPr id="9" name="Text 6"/>
          <p:cNvSpPr/>
          <p:nvPr/>
        </p:nvSpPr>
        <p:spPr>
          <a:xfrm>
            <a:off x="10908983" y="4331613"/>
            <a:ext cx="2927747" cy="1088708"/>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Relies heavily on specialized radiologists for accuracy.</a:t>
            </a:r>
            <a:endParaRPr lang="en-US" sz="1750" dirty="0"/>
          </a:p>
        </p:txBody>
      </p:sp>
      <p:sp>
        <p:nvSpPr>
          <p:cNvPr id="10" name="Shape 7"/>
          <p:cNvSpPr/>
          <p:nvPr/>
        </p:nvSpPr>
        <p:spPr>
          <a:xfrm>
            <a:off x="6280190" y="5902285"/>
            <a:ext cx="510302" cy="510302"/>
          </a:xfrm>
          <a:prstGeom prst="roundRect">
            <a:avLst>
              <a:gd name="adj" fmla="val 18669"/>
            </a:avLst>
          </a:prstGeom>
          <a:solidFill>
            <a:srgbClr val="D2DDF9"/>
          </a:solidFill>
          <a:ln w="7620">
            <a:solidFill>
              <a:srgbClr val="B8C3DF"/>
            </a:solidFill>
            <a:prstDash val="solid"/>
          </a:ln>
        </p:spPr>
      </p:sp>
      <p:sp>
        <p:nvSpPr>
          <p:cNvPr id="11" name="Text 8"/>
          <p:cNvSpPr/>
          <p:nvPr/>
        </p:nvSpPr>
        <p:spPr>
          <a:xfrm>
            <a:off x="7017306" y="590228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Human Error Risks</a:t>
            </a:r>
            <a:endParaRPr lang="en-US" sz="2200" dirty="0"/>
          </a:p>
        </p:txBody>
      </p:sp>
      <p:sp>
        <p:nvSpPr>
          <p:cNvPr id="12" name="Text 9"/>
          <p:cNvSpPr/>
          <p:nvPr/>
        </p:nvSpPr>
        <p:spPr>
          <a:xfrm>
            <a:off x="7017306" y="6392704"/>
            <a:ext cx="6819305"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Fatigue and variability cause potential misdiagnoses.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106216"/>
            <a:ext cx="13042821" cy="1417558"/>
          </a:xfrm>
          <a:prstGeom prst="rect">
            <a:avLst/>
          </a:prstGeom>
          <a:noFill/>
          <a:ln/>
        </p:spPr>
        <p:txBody>
          <a:bodyPr wrap="squar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Existing Diagnostic Methods and Their Limitations</a:t>
            </a:r>
            <a:endParaRPr lang="en-US" sz="4450" dirty="0"/>
          </a:p>
        </p:txBody>
      </p:sp>
      <p:sp>
        <p:nvSpPr>
          <p:cNvPr id="3" name="Text 1"/>
          <p:cNvSpPr/>
          <p:nvPr/>
        </p:nvSpPr>
        <p:spPr>
          <a:xfrm>
            <a:off x="793790" y="4090749"/>
            <a:ext cx="3256836"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Manual MRI Evaluation</a:t>
            </a:r>
            <a:endParaRPr lang="en-US" sz="2200" dirty="0"/>
          </a:p>
        </p:txBody>
      </p:sp>
      <p:sp>
        <p:nvSpPr>
          <p:cNvPr id="4" name="Text 2"/>
          <p:cNvSpPr/>
          <p:nvPr/>
        </p:nvSpPr>
        <p:spPr>
          <a:xfrm>
            <a:off x="793790" y="4671893"/>
            <a:ext cx="6244709"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Detailed but slow and expertise-heavy process.</a:t>
            </a:r>
            <a:endParaRPr lang="en-US" sz="1750" dirty="0"/>
          </a:p>
        </p:txBody>
      </p:sp>
      <p:sp>
        <p:nvSpPr>
          <p:cNvPr id="5" name="Text 3"/>
          <p:cNvSpPr/>
          <p:nvPr/>
        </p:nvSpPr>
        <p:spPr>
          <a:xfrm>
            <a:off x="793790" y="5238869"/>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Subjective interpretation</a:t>
            </a:r>
            <a:endParaRPr lang="en-US" sz="1750" dirty="0"/>
          </a:p>
        </p:txBody>
      </p:sp>
      <p:sp>
        <p:nvSpPr>
          <p:cNvPr id="6" name="Text 4"/>
          <p:cNvSpPr/>
          <p:nvPr/>
        </p:nvSpPr>
        <p:spPr>
          <a:xfrm>
            <a:off x="793790" y="5681067"/>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Time intensive</a:t>
            </a:r>
            <a:endParaRPr lang="en-US" sz="1750" dirty="0"/>
          </a:p>
        </p:txBody>
      </p:sp>
      <p:sp>
        <p:nvSpPr>
          <p:cNvPr id="7" name="Text 5"/>
          <p:cNvSpPr/>
          <p:nvPr/>
        </p:nvSpPr>
        <p:spPr>
          <a:xfrm>
            <a:off x="7599521" y="4090749"/>
            <a:ext cx="4888468"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Computed Tomography (CT) Scans</a:t>
            </a:r>
            <a:endParaRPr lang="en-US" sz="2200" dirty="0"/>
          </a:p>
        </p:txBody>
      </p:sp>
      <p:sp>
        <p:nvSpPr>
          <p:cNvPr id="8" name="Text 6"/>
          <p:cNvSpPr/>
          <p:nvPr/>
        </p:nvSpPr>
        <p:spPr>
          <a:xfrm>
            <a:off x="7599521" y="4671893"/>
            <a:ext cx="6244709"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Widely used but less sensitive to early ischemic changes.</a:t>
            </a:r>
            <a:endParaRPr lang="en-US" sz="1750" dirty="0"/>
          </a:p>
        </p:txBody>
      </p:sp>
      <p:sp>
        <p:nvSpPr>
          <p:cNvPr id="9" name="Text 7"/>
          <p:cNvSpPr/>
          <p:nvPr/>
        </p:nvSpPr>
        <p:spPr>
          <a:xfrm>
            <a:off x="7599521" y="5238869"/>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Lower resolution for soft tissue</a:t>
            </a:r>
            <a:endParaRPr lang="en-US" sz="1750" dirty="0"/>
          </a:p>
        </p:txBody>
      </p:sp>
      <p:sp>
        <p:nvSpPr>
          <p:cNvPr id="10" name="Text 8"/>
          <p:cNvSpPr/>
          <p:nvPr/>
        </p:nvSpPr>
        <p:spPr>
          <a:xfrm>
            <a:off x="7599521" y="5681067"/>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Radiation exposure concerns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523053"/>
            <a:ext cx="9902785"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Proposed Deep Learning Approach</a:t>
            </a:r>
            <a:endParaRPr lang="en-US" sz="4450" dirty="0"/>
          </a:p>
        </p:txBody>
      </p:sp>
      <p:sp>
        <p:nvSpPr>
          <p:cNvPr id="3" name="Text 1"/>
          <p:cNvSpPr/>
          <p:nvPr/>
        </p:nvSpPr>
        <p:spPr>
          <a:xfrm>
            <a:off x="793790" y="3798808"/>
            <a:ext cx="3151942"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Deep Learning Models</a:t>
            </a:r>
            <a:endParaRPr lang="en-US" sz="2200" dirty="0"/>
          </a:p>
        </p:txBody>
      </p:sp>
      <p:sp>
        <p:nvSpPr>
          <p:cNvPr id="4" name="Text 2"/>
          <p:cNvSpPr/>
          <p:nvPr/>
        </p:nvSpPr>
        <p:spPr>
          <a:xfrm>
            <a:off x="793790" y="4379952"/>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Convolutional Neural Networks (CNNs)</a:t>
            </a:r>
            <a:endParaRPr lang="en-US" sz="1750" dirty="0"/>
          </a:p>
        </p:txBody>
      </p:sp>
      <p:sp>
        <p:nvSpPr>
          <p:cNvPr id="5" name="Text 3"/>
          <p:cNvSpPr/>
          <p:nvPr/>
        </p:nvSpPr>
        <p:spPr>
          <a:xfrm>
            <a:off x="793790" y="4822150"/>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Multiscale CNNs for feature extraction</a:t>
            </a:r>
            <a:endParaRPr lang="en-US" sz="1750" dirty="0"/>
          </a:p>
        </p:txBody>
      </p:sp>
      <p:sp>
        <p:nvSpPr>
          <p:cNvPr id="6" name="Text 4"/>
          <p:cNvSpPr/>
          <p:nvPr/>
        </p:nvSpPr>
        <p:spPr>
          <a:xfrm>
            <a:off x="793790" y="5264348"/>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Hybrid ensemble models combining strengths</a:t>
            </a:r>
            <a:endParaRPr lang="en-US" sz="1750" dirty="0"/>
          </a:p>
        </p:txBody>
      </p:sp>
      <p:sp>
        <p:nvSpPr>
          <p:cNvPr id="7" name="Text 5"/>
          <p:cNvSpPr/>
          <p:nvPr/>
        </p:nvSpPr>
        <p:spPr>
          <a:xfrm>
            <a:off x="7599521" y="379880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MRI Image Analysis</a:t>
            </a:r>
            <a:endParaRPr lang="en-US" sz="2200" dirty="0"/>
          </a:p>
        </p:txBody>
      </p:sp>
      <p:sp>
        <p:nvSpPr>
          <p:cNvPr id="8" name="Text 6"/>
          <p:cNvSpPr/>
          <p:nvPr/>
        </p:nvSpPr>
        <p:spPr>
          <a:xfrm>
            <a:off x="7599521" y="4379952"/>
            <a:ext cx="6244709"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Accurate detection and classification of stroke lesions.</a:t>
            </a:r>
            <a:endParaRPr lang="en-US" sz="1750" dirty="0"/>
          </a:p>
        </p:txBody>
      </p:sp>
      <p:sp>
        <p:nvSpPr>
          <p:cNvPr id="9" name="Text 7"/>
          <p:cNvSpPr/>
          <p:nvPr/>
        </p:nvSpPr>
        <p:spPr>
          <a:xfrm>
            <a:off x="7599521" y="4946928"/>
            <a:ext cx="6244709"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Automated workflow to reduce diagnosis time.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913584"/>
            <a:ext cx="9625608"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Dataset Details and Preprocessing</a:t>
            </a:r>
            <a:endParaRPr lang="en-US" sz="4450" dirty="0"/>
          </a:p>
        </p:txBody>
      </p:sp>
      <p:sp>
        <p:nvSpPr>
          <p:cNvPr id="4" name="Shape 1"/>
          <p:cNvSpPr/>
          <p:nvPr/>
        </p:nvSpPr>
        <p:spPr>
          <a:xfrm>
            <a:off x="793790" y="5217676"/>
            <a:ext cx="510302" cy="510302"/>
          </a:xfrm>
          <a:prstGeom prst="roundRect">
            <a:avLst>
              <a:gd name="adj" fmla="val 18669"/>
            </a:avLst>
          </a:prstGeom>
          <a:solidFill>
            <a:srgbClr val="D2DDF9"/>
          </a:solidFill>
          <a:ln w="7620">
            <a:solidFill>
              <a:srgbClr val="B8C3DF"/>
            </a:solidFill>
            <a:prstDash val="solid"/>
          </a:ln>
        </p:spPr>
      </p:sp>
      <p:sp>
        <p:nvSpPr>
          <p:cNvPr id="5" name="Text 2"/>
          <p:cNvSpPr/>
          <p:nvPr/>
        </p:nvSpPr>
        <p:spPr>
          <a:xfrm>
            <a:off x="1530906" y="521767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Dataset Sources</a:t>
            </a:r>
            <a:endParaRPr lang="en-US" sz="2200" dirty="0"/>
          </a:p>
        </p:txBody>
      </p:sp>
      <p:sp>
        <p:nvSpPr>
          <p:cNvPr id="6" name="Text 3"/>
          <p:cNvSpPr/>
          <p:nvPr/>
        </p:nvSpPr>
        <p:spPr>
          <a:xfrm>
            <a:off x="1530906" y="5708094"/>
            <a:ext cx="3459242" cy="725805"/>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Public hospitals and research databases with labeled MRIs.</a:t>
            </a:r>
            <a:endParaRPr lang="en-US" sz="1750" dirty="0"/>
          </a:p>
        </p:txBody>
      </p:sp>
      <p:sp>
        <p:nvSpPr>
          <p:cNvPr id="7" name="Shape 4"/>
          <p:cNvSpPr/>
          <p:nvPr/>
        </p:nvSpPr>
        <p:spPr>
          <a:xfrm>
            <a:off x="5216962" y="5217676"/>
            <a:ext cx="510302" cy="510302"/>
          </a:xfrm>
          <a:prstGeom prst="roundRect">
            <a:avLst>
              <a:gd name="adj" fmla="val 18669"/>
            </a:avLst>
          </a:prstGeom>
          <a:solidFill>
            <a:srgbClr val="D2DDF9"/>
          </a:solidFill>
          <a:ln w="7620">
            <a:solidFill>
              <a:srgbClr val="B8C3DF"/>
            </a:solidFill>
            <a:prstDash val="solid"/>
          </a:ln>
        </p:spPr>
      </p:sp>
      <p:sp>
        <p:nvSpPr>
          <p:cNvPr id="8" name="Text 5"/>
          <p:cNvSpPr/>
          <p:nvPr/>
        </p:nvSpPr>
        <p:spPr>
          <a:xfrm>
            <a:off x="5954078" y="521767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Data Augmentation</a:t>
            </a:r>
            <a:endParaRPr lang="en-US" sz="2200" dirty="0"/>
          </a:p>
        </p:txBody>
      </p:sp>
      <p:sp>
        <p:nvSpPr>
          <p:cNvPr id="9" name="Text 6"/>
          <p:cNvSpPr/>
          <p:nvPr/>
        </p:nvSpPr>
        <p:spPr>
          <a:xfrm>
            <a:off x="5954078" y="5708094"/>
            <a:ext cx="3459242" cy="725805"/>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Rotation, scaling, and flipping to improve model robustness.</a:t>
            </a:r>
            <a:endParaRPr lang="en-US" sz="1750" dirty="0"/>
          </a:p>
        </p:txBody>
      </p:sp>
      <p:sp>
        <p:nvSpPr>
          <p:cNvPr id="10" name="Shape 7"/>
          <p:cNvSpPr/>
          <p:nvPr/>
        </p:nvSpPr>
        <p:spPr>
          <a:xfrm>
            <a:off x="9640133" y="5217676"/>
            <a:ext cx="510302" cy="510302"/>
          </a:xfrm>
          <a:prstGeom prst="roundRect">
            <a:avLst>
              <a:gd name="adj" fmla="val 18669"/>
            </a:avLst>
          </a:prstGeom>
          <a:solidFill>
            <a:srgbClr val="D2DDF9"/>
          </a:solidFill>
          <a:ln w="7620">
            <a:solidFill>
              <a:srgbClr val="B8C3DF"/>
            </a:solidFill>
            <a:prstDash val="solid"/>
          </a:ln>
        </p:spPr>
      </p:sp>
      <p:sp>
        <p:nvSpPr>
          <p:cNvPr id="11" name="Text 8"/>
          <p:cNvSpPr/>
          <p:nvPr/>
        </p:nvSpPr>
        <p:spPr>
          <a:xfrm>
            <a:off x="10377249" y="5217676"/>
            <a:ext cx="3459242" cy="708660"/>
          </a:xfrm>
          <a:prstGeom prst="rect">
            <a:avLst/>
          </a:prstGeom>
          <a:noFill/>
          <a:ln/>
        </p:spPr>
        <p:txBody>
          <a:bodyPr wrap="squar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Class Balance &amp; Preprocessing</a:t>
            </a:r>
            <a:endParaRPr lang="en-US" sz="2200" dirty="0"/>
          </a:p>
        </p:txBody>
      </p:sp>
      <p:sp>
        <p:nvSpPr>
          <p:cNvPr id="12" name="Text 9"/>
          <p:cNvSpPr/>
          <p:nvPr/>
        </p:nvSpPr>
        <p:spPr>
          <a:xfrm>
            <a:off x="10377249" y="6062424"/>
            <a:ext cx="3459242" cy="1088708"/>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Normalization, skull stripping, and balancing stroke vs. control images.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859768"/>
            <a:ext cx="8449151"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Model Architecture Explained</a:t>
            </a:r>
            <a:endParaRPr lang="en-US" sz="4450" dirty="0"/>
          </a:p>
        </p:txBody>
      </p:sp>
      <p:pic>
        <p:nvPicPr>
          <p:cNvPr id="4" name="Image 1" descr="preencoded.png">    </p:cNvPr>
          <p:cNvPicPr>
            <a:picLocks noChangeAspect="1"/>
          </p:cNvPicPr>
          <p:nvPr/>
        </p:nvPicPr>
        <p:blipFill>
          <a:blip r:embed="rId2"/>
          <a:stretch>
            <a:fillRect/>
          </a:stretch>
        </p:blipFill>
        <p:spPr>
          <a:xfrm>
            <a:off x="793790" y="4948357"/>
            <a:ext cx="566976" cy="566976"/>
          </a:xfrm>
          <a:prstGeom prst="rect">
            <a:avLst/>
          </a:prstGeom>
        </p:spPr>
      </p:pic>
      <p:sp>
        <p:nvSpPr>
          <p:cNvPr id="5" name="Text 1"/>
          <p:cNvSpPr/>
          <p:nvPr/>
        </p:nvSpPr>
        <p:spPr>
          <a:xfrm>
            <a:off x="1587579" y="4908709"/>
            <a:ext cx="2211705" cy="708660"/>
          </a:xfrm>
          <a:prstGeom prst="rect">
            <a:avLst/>
          </a:prstGeom>
          <a:noFill/>
          <a:ln/>
        </p:spPr>
        <p:txBody>
          <a:bodyPr wrap="squar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Convolutional Layers</a:t>
            </a:r>
            <a:endParaRPr lang="en-US" sz="2200" dirty="0"/>
          </a:p>
        </p:txBody>
      </p:sp>
      <p:sp>
        <p:nvSpPr>
          <p:cNvPr id="6" name="Text 2"/>
          <p:cNvSpPr/>
          <p:nvPr/>
        </p:nvSpPr>
        <p:spPr>
          <a:xfrm>
            <a:off x="1587579" y="5753457"/>
            <a:ext cx="2211705" cy="1088708"/>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Extract spatial features from MRI scans effectively.</a:t>
            </a:r>
            <a:endParaRPr lang="en-US" sz="1750" dirty="0"/>
          </a:p>
        </p:txBody>
      </p:sp>
      <p:pic>
        <p:nvPicPr>
          <p:cNvPr id="7" name="Image 2" descr="preencoded.png">    </p:cNvPr>
          <p:cNvPicPr>
            <a:picLocks noChangeAspect="1"/>
          </p:cNvPicPr>
          <p:nvPr/>
        </p:nvPicPr>
        <p:blipFill>
          <a:blip r:embed="rId3"/>
          <a:stretch>
            <a:fillRect/>
          </a:stretch>
        </p:blipFill>
        <p:spPr>
          <a:xfrm>
            <a:off x="4139446" y="4948357"/>
            <a:ext cx="566976" cy="566976"/>
          </a:xfrm>
          <a:prstGeom prst="rect">
            <a:avLst/>
          </a:prstGeom>
        </p:spPr>
      </p:pic>
      <p:sp>
        <p:nvSpPr>
          <p:cNvPr id="8" name="Text 3"/>
          <p:cNvSpPr/>
          <p:nvPr/>
        </p:nvSpPr>
        <p:spPr>
          <a:xfrm>
            <a:off x="4933236" y="4908709"/>
            <a:ext cx="2211824" cy="708660"/>
          </a:xfrm>
          <a:prstGeom prst="rect">
            <a:avLst/>
          </a:prstGeom>
          <a:noFill/>
          <a:ln/>
        </p:spPr>
        <p:txBody>
          <a:bodyPr wrap="squar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Activation Functions</a:t>
            </a:r>
            <a:endParaRPr lang="en-US" sz="2200" dirty="0"/>
          </a:p>
        </p:txBody>
      </p:sp>
      <p:sp>
        <p:nvSpPr>
          <p:cNvPr id="9" name="Text 4"/>
          <p:cNvSpPr/>
          <p:nvPr/>
        </p:nvSpPr>
        <p:spPr>
          <a:xfrm>
            <a:off x="4933236" y="5753457"/>
            <a:ext cx="2211824" cy="1451610"/>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ReLU for non-linearity, softmax for final classification.</a:t>
            </a:r>
            <a:endParaRPr lang="en-US" sz="1750" dirty="0"/>
          </a:p>
        </p:txBody>
      </p:sp>
      <p:pic>
        <p:nvPicPr>
          <p:cNvPr id="10" name="Image 3" descr="preencoded.png">    </p:cNvPr>
          <p:cNvPicPr>
            <a:picLocks noChangeAspect="1"/>
          </p:cNvPicPr>
          <p:nvPr/>
        </p:nvPicPr>
        <p:blipFill>
          <a:blip r:embed="rId4"/>
          <a:stretch>
            <a:fillRect/>
          </a:stretch>
        </p:blipFill>
        <p:spPr>
          <a:xfrm>
            <a:off x="7485221" y="4948357"/>
            <a:ext cx="566976" cy="566976"/>
          </a:xfrm>
          <a:prstGeom prst="rect">
            <a:avLst/>
          </a:prstGeom>
        </p:spPr>
      </p:pic>
      <p:sp>
        <p:nvSpPr>
          <p:cNvPr id="11" name="Text 5"/>
          <p:cNvSpPr/>
          <p:nvPr/>
        </p:nvSpPr>
        <p:spPr>
          <a:xfrm>
            <a:off x="8279011" y="4908709"/>
            <a:ext cx="2211824"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Optimization</a:t>
            </a:r>
            <a:endParaRPr lang="en-US" sz="2200" dirty="0"/>
          </a:p>
        </p:txBody>
      </p:sp>
      <p:sp>
        <p:nvSpPr>
          <p:cNvPr id="12" name="Text 6"/>
          <p:cNvSpPr/>
          <p:nvPr/>
        </p:nvSpPr>
        <p:spPr>
          <a:xfrm>
            <a:off x="8279011" y="5399127"/>
            <a:ext cx="2211824" cy="1088708"/>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Adam optimizer with hybrid learning rate schedule.</a:t>
            </a:r>
            <a:endParaRPr lang="en-US" sz="1750" dirty="0"/>
          </a:p>
        </p:txBody>
      </p:sp>
      <p:pic>
        <p:nvPicPr>
          <p:cNvPr id="13" name="Image 4" descr="preencoded.png">    </p:cNvPr>
          <p:cNvPicPr>
            <a:picLocks noChangeAspect="1"/>
          </p:cNvPicPr>
          <p:nvPr/>
        </p:nvPicPr>
        <p:blipFill>
          <a:blip r:embed="rId5"/>
          <a:stretch>
            <a:fillRect/>
          </a:stretch>
        </p:blipFill>
        <p:spPr>
          <a:xfrm>
            <a:off x="10830997" y="4948357"/>
            <a:ext cx="566976" cy="566976"/>
          </a:xfrm>
          <a:prstGeom prst="rect">
            <a:avLst/>
          </a:prstGeom>
        </p:spPr>
      </p:pic>
      <p:sp>
        <p:nvSpPr>
          <p:cNvPr id="14" name="Text 7"/>
          <p:cNvSpPr/>
          <p:nvPr/>
        </p:nvSpPr>
        <p:spPr>
          <a:xfrm>
            <a:off x="11624786" y="4908709"/>
            <a:ext cx="2211824"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Innovations</a:t>
            </a:r>
            <a:endParaRPr lang="en-US" sz="2200" dirty="0"/>
          </a:p>
        </p:txBody>
      </p:sp>
      <p:sp>
        <p:nvSpPr>
          <p:cNvPr id="15" name="Text 8"/>
          <p:cNvSpPr/>
          <p:nvPr/>
        </p:nvSpPr>
        <p:spPr>
          <a:xfrm>
            <a:off x="11624786" y="5399127"/>
            <a:ext cx="2211824" cy="1088708"/>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Multiscale feature fusion enhances detection accuracy.</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523053"/>
            <a:ext cx="11399044"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Training Strategy and Evaluation Metrics</a:t>
            </a:r>
            <a:endParaRPr lang="en-US" sz="4450" dirty="0"/>
          </a:p>
        </p:txBody>
      </p:sp>
      <p:sp>
        <p:nvSpPr>
          <p:cNvPr id="3" name="Text 1"/>
          <p:cNvSpPr/>
          <p:nvPr/>
        </p:nvSpPr>
        <p:spPr>
          <a:xfrm>
            <a:off x="793790" y="379880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Training Metrics</a:t>
            </a:r>
            <a:endParaRPr lang="en-US" sz="2200" dirty="0"/>
          </a:p>
        </p:txBody>
      </p:sp>
      <p:sp>
        <p:nvSpPr>
          <p:cNvPr id="4" name="Text 2"/>
          <p:cNvSpPr/>
          <p:nvPr/>
        </p:nvSpPr>
        <p:spPr>
          <a:xfrm>
            <a:off x="793790" y="4379952"/>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Accuracy</a:t>
            </a:r>
            <a:endParaRPr lang="en-US" sz="1750" dirty="0"/>
          </a:p>
        </p:txBody>
      </p:sp>
      <p:sp>
        <p:nvSpPr>
          <p:cNvPr id="5" name="Text 3"/>
          <p:cNvSpPr/>
          <p:nvPr/>
        </p:nvSpPr>
        <p:spPr>
          <a:xfrm>
            <a:off x="793790" y="4822150"/>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Dice Similarity Score</a:t>
            </a:r>
            <a:endParaRPr lang="en-US" sz="1750" dirty="0"/>
          </a:p>
        </p:txBody>
      </p:sp>
      <p:sp>
        <p:nvSpPr>
          <p:cNvPr id="6" name="Text 4"/>
          <p:cNvSpPr/>
          <p:nvPr/>
        </p:nvSpPr>
        <p:spPr>
          <a:xfrm>
            <a:off x="793790" y="5264348"/>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Precision and Recall</a:t>
            </a:r>
            <a:endParaRPr lang="en-US" sz="1750" dirty="0"/>
          </a:p>
        </p:txBody>
      </p:sp>
      <p:sp>
        <p:nvSpPr>
          <p:cNvPr id="7" name="Text 5"/>
          <p:cNvSpPr/>
          <p:nvPr/>
        </p:nvSpPr>
        <p:spPr>
          <a:xfrm>
            <a:off x="7599521" y="379880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Loss &amp; Validation</a:t>
            </a:r>
            <a:endParaRPr lang="en-US" sz="2200" dirty="0"/>
          </a:p>
        </p:txBody>
      </p:sp>
      <p:sp>
        <p:nvSpPr>
          <p:cNvPr id="8" name="Text 6"/>
          <p:cNvSpPr/>
          <p:nvPr/>
        </p:nvSpPr>
        <p:spPr>
          <a:xfrm>
            <a:off x="7599521" y="4379952"/>
            <a:ext cx="6244709"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Cross-entropy loss optimized with early stopping.</a:t>
            </a:r>
            <a:endParaRPr lang="en-US" sz="1750" dirty="0"/>
          </a:p>
        </p:txBody>
      </p:sp>
      <p:sp>
        <p:nvSpPr>
          <p:cNvPr id="9" name="Text 7"/>
          <p:cNvSpPr/>
          <p:nvPr/>
        </p:nvSpPr>
        <p:spPr>
          <a:xfrm>
            <a:off x="7599521" y="4946928"/>
            <a:ext cx="6244709"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5-fold cross-validation for robust evaluation.</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618893"/>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Results and Performance Comparison</a:t>
            </a:r>
            <a:endParaRPr lang="en-US" sz="4450" dirty="0"/>
          </a:p>
        </p:txBody>
      </p:sp>
      <p:sp>
        <p:nvSpPr>
          <p:cNvPr id="4" name="Shape 1"/>
          <p:cNvSpPr/>
          <p:nvPr/>
        </p:nvSpPr>
        <p:spPr>
          <a:xfrm>
            <a:off x="6280190" y="3376613"/>
            <a:ext cx="3664863" cy="1685092"/>
          </a:xfrm>
          <a:prstGeom prst="roundRect">
            <a:avLst>
              <a:gd name="adj" fmla="val 5654"/>
            </a:avLst>
          </a:prstGeom>
          <a:solidFill>
            <a:srgbClr val="D2DDF9"/>
          </a:solidFill>
          <a:ln w="7620">
            <a:solidFill>
              <a:srgbClr val="B8C3DF"/>
            </a:solidFill>
            <a:prstDash val="solid"/>
          </a:ln>
        </p:spPr>
      </p:sp>
      <p:sp>
        <p:nvSpPr>
          <p:cNvPr id="5" name="Text 2"/>
          <p:cNvSpPr/>
          <p:nvPr/>
        </p:nvSpPr>
        <p:spPr>
          <a:xfrm>
            <a:off x="6514624" y="361104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Superior Accuracy</a:t>
            </a:r>
            <a:endParaRPr lang="en-US" sz="2200" dirty="0"/>
          </a:p>
        </p:txBody>
      </p:sp>
      <p:sp>
        <p:nvSpPr>
          <p:cNvPr id="6" name="Text 3"/>
          <p:cNvSpPr/>
          <p:nvPr/>
        </p:nvSpPr>
        <p:spPr>
          <a:xfrm>
            <a:off x="6514624" y="4101465"/>
            <a:ext cx="3195995" cy="725805"/>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Achieved over 92% accuracy on test datasets.</a:t>
            </a:r>
            <a:endParaRPr lang="en-US" sz="1750" dirty="0"/>
          </a:p>
        </p:txBody>
      </p:sp>
      <p:sp>
        <p:nvSpPr>
          <p:cNvPr id="7" name="Shape 4"/>
          <p:cNvSpPr/>
          <p:nvPr/>
        </p:nvSpPr>
        <p:spPr>
          <a:xfrm>
            <a:off x="10171867" y="3376613"/>
            <a:ext cx="3664863" cy="1685092"/>
          </a:xfrm>
          <a:prstGeom prst="roundRect">
            <a:avLst>
              <a:gd name="adj" fmla="val 5654"/>
            </a:avLst>
          </a:prstGeom>
          <a:solidFill>
            <a:srgbClr val="D2DDF9"/>
          </a:solidFill>
          <a:ln w="7620">
            <a:solidFill>
              <a:srgbClr val="B8C3DF"/>
            </a:solidFill>
            <a:prstDash val="solid"/>
          </a:ln>
        </p:spPr>
      </p:sp>
      <p:sp>
        <p:nvSpPr>
          <p:cNvPr id="8" name="Text 5"/>
          <p:cNvSpPr/>
          <p:nvPr/>
        </p:nvSpPr>
        <p:spPr>
          <a:xfrm>
            <a:off x="10406301" y="3611047"/>
            <a:ext cx="2940248"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Robust Classification</a:t>
            </a:r>
            <a:endParaRPr lang="en-US" sz="2200" dirty="0"/>
          </a:p>
        </p:txBody>
      </p:sp>
      <p:sp>
        <p:nvSpPr>
          <p:cNvPr id="9" name="Text 6"/>
          <p:cNvSpPr/>
          <p:nvPr/>
        </p:nvSpPr>
        <p:spPr>
          <a:xfrm>
            <a:off x="10406301" y="4101465"/>
            <a:ext cx="3195995" cy="725805"/>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Effective across ischemic and hemorrhagic stroke types.</a:t>
            </a:r>
            <a:endParaRPr lang="en-US" sz="1750" dirty="0"/>
          </a:p>
        </p:txBody>
      </p:sp>
      <p:sp>
        <p:nvSpPr>
          <p:cNvPr id="10" name="Shape 7"/>
          <p:cNvSpPr/>
          <p:nvPr/>
        </p:nvSpPr>
        <p:spPr>
          <a:xfrm>
            <a:off x="6280190" y="5288518"/>
            <a:ext cx="7556421" cy="1322189"/>
          </a:xfrm>
          <a:prstGeom prst="roundRect">
            <a:avLst>
              <a:gd name="adj" fmla="val 7205"/>
            </a:avLst>
          </a:prstGeom>
          <a:solidFill>
            <a:srgbClr val="D2DDF9"/>
          </a:solidFill>
          <a:ln w="7620">
            <a:solidFill>
              <a:srgbClr val="B8C3DF"/>
            </a:solidFill>
            <a:prstDash val="solid"/>
          </a:ln>
        </p:spPr>
      </p:sp>
      <p:sp>
        <p:nvSpPr>
          <p:cNvPr id="11" name="Text 8"/>
          <p:cNvSpPr/>
          <p:nvPr/>
        </p:nvSpPr>
        <p:spPr>
          <a:xfrm>
            <a:off x="6514624" y="5522952"/>
            <a:ext cx="4125397"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Better than Existing Methods</a:t>
            </a:r>
            <a:endParaRPr lang="en-US" sz="2200" dirty="0"/>
          </a:p>
        </p:txBody>
      </p:sp>
      <p:sp>
        <p:nvSpPr>
          <p:cNvPr id="12" name="Text 9"/>
          <p:cNvSpPr/>
          <p:nvPr/>
        </p:nvSpPr>
        <p:spPr>
          <a:xfrm>
            <a:off x="6514624" y="6013371"/>
            <a:ext cx="7087553"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Outperforms traditional manual and CT-based diagnosis.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2168604"/>
            <a:ext cx="13042821" cy="1417558"/>
          </a:xfrm>
          <a:prstGeom prst="rect">
            <a:avLst/>
          </a:prstGeom>
          <a:noFill/>
          <a:ln/>
        </p:spPr>
        <p:txBody>
          <a:bodyPr wrap="squar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Advantages, Challenges, and Future Directions</a:t>
            </a:r>
            <a:endParaRPr lang="en-US" sz="4450" dirty="0"/>
          </a:p>
        </p:txBody>
      </p:sp>
      <p:sp>
        <p:nvSpPr>
          <p:cNvPr id="3" name="Text 1"/>
          <p:cNvSpPr/>
          <p:nvPr/>
        </p:nvSpPr>
        <p:spPr>
          <a:xfrm>
            <a:off x="793790" y="415313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Advantages</a:t>
            </a:r>
            <a:endParaRPr lang="en-US" sz="2200" dirty="0"/>
          </a:p>
        </p:txBody>
      </p:sp>
      <p:sp>
        <p:nvSpPr>
          <p:cNvPr id="4" name="Text 2"/>
          <p:cNvSpPr/>
          <p:nvPr/>
        </p:nvSpPr>
        <p:spPr>
          <a:xfrm>
            <a:off x="793790" y="4734282"/>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Higher accuracy and faster diagnosis</a:t>
            </a:r>
            <a:endParaRPr lang="en-US" sz="1750" dirty="0"/>
          </a:p>
        </p:txBody>
      </p:sp>
      <p:sp>
        <p:nvSpPr>
          <p:cNvPr id="5" name="Text 3"/>
          <p:cNvSpPr/>
          <p:nvPr/>
        </p:nvSpPr>
        <p:spPr>
          <a:xfrm>
            <a:off x="793790" y="5176480"/>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Robust across diverse stroke types</a:t>
            </a:r>
            <a:endParaRPr lang="en-US" sz="1750" dirty="0"/>
          </a:p>
        </p:txBody>
      </p:sp>
      <p:sp>
        <p:nvSpPr>
          <p:cNvPr id="6" name="Text 4"/>
          <p:cNvSpPr/>
          <p:nvPr/>
        </p:nvSpPr>
        <p:spPr>
          <a:xfrm>
            <a:off x="793790" y="5618678"/>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Reduces reliance on human expertise</a:t>
            </a:r>
            <a:endParaRPr lang="en-US" sz="1750" dirty="0"/>
          </a:p>
        </p:txBody>
      </p:sp>
      <p:sp>
        <p:nvSpPr>
          <p:cNvPr id="7" name="Text 5"/>
          <p:cNvSpPr/>
          <p:nvPr/>
        </p:nvSpPr>
        <p:spPr>
          <a:xfrm>
            <a:off x="7599521" y="4153138"/>
            <a:ext cx="3643313"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Challenges &amp; Future Work</a:t>
            </a:r>
            <a:endParaRPr lang="en-US" sz="2200" dirty="0"/>
          </a:p>
        </p:txBody>
      </p:sp>
      <p:sp>
        <p:nvSpPr>
          <p:cNvPr id="8" name="Text 6"/>
          <p:cNvSpPr/>
          <p:nvPr/>
        </p:nvSpPr>
        <p:spPr>
          <a:xfrm>
            <a:off x="7599521" y="4734282"/>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Limited dataset size and MRI variability</a:t>
            </a:r>
            <a:endParaRPr lang="en-US" sz="1750" dirty="0"/>
          </a:p>
        </p:txBody>
      </p:sp>
      <p:sp>
        <p:nvSpPr>
          <p:cNvPr id="9" name="Text 7"/>
          <p:cNvSpPr/>
          <p:nvPr/>
        </p:nvSpPr>
        <p:spPr>
          <a:xfrm>
            <a:off x="7599521" y="5176480"/>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Need for extensive clinical validation</a:t>
            </a:r>
            <a:endParaRPr lang="en-US" sz="1750" dirty="0"/>
          </a:p>
        </p:txBody>
      </p:sp>
      <p:sp>
        <p:nvSpPr>
          <p:cNvPr id="10" name="Text 8"/>
          <p:cNvSpPr/>
          <p:nvPr/>
        </p:nvSpPr>
        <p:spPr>
          <a:xfrm>
            <a:off x="7599521" y="5618678"/>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Integration of explainable AI for transparency</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72227" y="888921"/>
            <a:ext cx="4802386" cy="600313"/>
          </a:xfrm>
          <a:prstGeom prst="rect">
            <a:avLst/>
          </a:prstGeom>
          <a:noFill/>
          <a:ln/>
        </p:spPr>
        <p:txBody>
          <a:bodyPr wrap="none" lIns="0" tIns="0" rIns="0" bIns="0" rtlCol="0" anchor="t"/>
          <a:lstStyle/>
          <a:p>
            <a:pPr algn="l" indent="0" marL="0">
              <a:lnSpc>
                <a:spcPts val="4700"/>
              </a:lnSpc>
              <a:buNone/>
            </a:pPr>
            <a:r>
              <a:rPr lang="en-US" sz="3750" dirty="0">
                <a:solidFill>
                  <a:srgbClr val="1B1B27"/>
                </a:solidFill>
                <a:latin typeface="Alexandria" pitchFamily="34" charset="0"/>
                <a:ea typeface="Alexandria" pitchFamily="34" charset="-122"/>
                <a:cs typeface="Alexandria" pitchFamily="34" charset="-120"/>
              </a:rPr>
              <a:t>Conclusion</a:t>
            </a:r>
            <a:endParaRPr lang="en-US" sz="3750" dirty="0"/>
          </a:p>
        </p:txBody>
      </p:sp>
      <p:sp>
        <p:nvSpPr>
          <p:cNvPr id="4" name="Text 1"/>
          <p:cNvSpPr/>
          <p:nvPr/>
        </p:nvSpPr>
        <p:spPr>
          <a:xfrm>
            <a:off x="672227" y="1777365"/>
            <a:ext cx="7799546" cy="1228725"/>
          </a:xfrm>
          <a:prstGeom prst="rect">
            <a:avLst/>
          </a:prstGeom>
          <a:noFill/>
          <a:ln/>
        </p:spPr>
        <p:txBody>
          <a:bodyPr wrap="square" lIns="0" tIns="0" rIns="0" bIns="0" rtlCol="0" anchor="t"/>
          <a:lstStyle/>
          <a:p>
            <a:pPr algn="l" indent="0" marL="0">
              <a:lnSpc>
                <a:spcPts val="2400"/>
              </a:lnSpc>
              <a:buNone/>
            </a:pPr>
            <a:r>
              <a:rPr lang="en-US" sz="1500" dirty="0">
                <a:solidFill>
                  <a:srgbClr val="404155"/>
                </a:solidFill>
                <a:latin typeface="Nobile" pitchFamily="34" charset="0"/>
                <a:ea typeface="Nobile" pitchFamily="34" charset="-122"/>
                <a:cs typeface="Nobile" pitchFamily="34" charset="-120"/>
              </a:rPr>
              <a:t>In this presentation, we've explored the use of deep learning techniques for early and accurate detection of brain strokes. We discussed the significant impact of strokes, the limitations of traditional diagnostic methods, and how our proposed deep learning approach can overcome these challenges.</a:t>
            </a:r>
            <a:endParaRPr lang="en-US" sz="1500" dirty="0"/>
          </a:p>
        </p:txBody>
      </p:sp>
      <p:sp>
        <p:nvSpPr>
          <p:cNvPr id="5" name="Text 2"/>
          <p:cNvSpPr/>
          <p:nvPr/>
        </p:nvSpPr>
        <p:spPr>
          <a:xfrm>
            <a:off x="672227" y="3222188"/>
            <a:ext cx="7799546" cy="1228725"/>
          </a:xfrm>
          <a:prstGeom prst="rect">
            <a:avLst/>
          </a:prstGeom>
          <a:noFill/>
          <a:ln/>
        </p:spPr>
        <p:txBody>
          <a:bodyPr wrap="square" lIns="0" tIns="0" rIns="0" bIns="0" rtlCol="0" anchor="t"/>
          <a:lstStyle/>
          <a:p>
            <a:pPr algn="l" indent="0" marL="0">
              <a:lnSpc>
                <a:spcPts val="2400"/>
              </a:lnSpc>
              <a:buNone/>
            </a:pPr>
            <a:r>
              <a:rPr lang="en-US" sz="1500" dirty="0">
                <a:solidFill>
                  <a:srgbClr val="404155"/>
                </a:solidFill>
                <a:latin typeface="Nobile" pitchFamily="34" charset="0"/>
                <a:ea typeface="Nobile" pitchFamily="34" charset="-122"/>
                <a:cs typeface="Nobile" pitchFamily="34" charset="-120"/>
              </a:rPr>
              <a:t>By leveraging advanced neural network architectures and a curated dataset, we demonstrated the potential of this technology to provide rapid, reliable, and cost-effective stroke diagnosis. The promising results highlight the advantages of this approach, including improved patient outcomes through timely intervention.</a:t>
            </a:r>
            <a:endParaRPr lang="en-US" sz="1500" dirty="0"/>
          </a:p>
        </p:txBody>
      </p:sp>
      <p:sp>
        <p:nvSpPr>
          <p:cNvPr id="6" name="Text 3"/>
          <p:cNvSpPr/>
          <p:nvPr/>
        </p:nvSpPr>
        <p:spPr>
          <a:xfrm>
            <a:off x="672227" y="4667012"/>
            <a:ext cx="7799546" cy="1228725"/>
          </a:xfrm>
          <a:prstGeom prst="rect">
            <a:avLst/>
          </a:prstGeom>
          <a:noFill/>
          <a:ln/>
        </p:spPr>
        <p:txBody>
          <a:bodyPr wrap="square" lIns="0" tIns="0" rIns="0" bIns="0" rtlCol="0" anchor="t"/>
          <a:lstStyle/>
          <a:p>
            <a:pPr algn="l" indent="0" marL="0">
              <a:lnSpc>
                <a:spcPts val="2400"/>
              </a:lnSpc>
              <a:buNone/>
            </a:pPr>
            <a:r>
              <a:rPr lang="en-US" sz="1500" dirty="0">
                <a:solidFill>
                  <a:srgbClr val="404155"/>
                </a:solidFill>
                <a:latin typeface="Nobile" pitchFamily="34" charset="0"/>
                <a:ea typeface="Nobile" pitchFamily="34" charset="-122"/>
                <a:cs typeface="Nobile" pitchFamily="34" charset="-120"/>
              </a:rPr>
              <a:t>However, we also acknowledged the ongoing challenges and the need for further research and development to refine the models and address practical deployment considerations. With continued advancements in deep learning and medical imaging, we are optimistic about the future of this technology in revolutionizing stroke care.</a:t>
            </a:r>
            <a:endParaRPr lang="en-US" sz="1500" dirty="0"/>
          </a:p>
        </p:txBody>
      </p:sp>
      <p:sp>
        <p:nvSpPr>
          <p:cNvPr id="7" name="Text 4"/>
          <p:cNvSpPr/>
          <p:nvPr/>
        </p:nvSpPr>
        <p:spPr>
          <a:xfrm>
            <a:off x="672227" y="6111835"/>
            <a:ext cx="7799546" cy="1228725"/>
          </a:xfrm>
          <a:prstGeom prst="rect">
            <a:avLst/>
          </a:prstGeom>
          <a:noFill/>
          <a:ln/>
        </p:spPr>
        <p:txBody>
          <a:bodyPr wrap="square" lIns="0" tIns="0" rIns="0" bIns="0" rtlCol="0" anchor="t"/>
          <a:lstStyle/>
          <a:p>
            <a:pPr algn="l" indent="0" marL="0">
              <a:lnSpc>
                <a:spcPts val="2400"/>
              </a:lnSpc>
              <a:buNone/>
            </a:pPr>
            <a:r>
              <a:rPr lang="en-US" sz="1500" dirty="0">
                <a:solidFill>
                  <a:srgbClr val="404155"/>
                </a:solidFill>
                <a:latin typeface="Nobile" pitchFamily="34" charset="0"/>
                <a:ea typeface="Nobile" pitchFamily="34" charset="-122"/>
                <a:cs typeface="Nobile" pitchFamily="34" charset="-120"/>
              </a:rPr>
              <a:t>In conclusion, this presentation has outlined a compelling vision for the future of brain stroke detection, where deep learning can empower healthcare professionals to make more informed decisions and deliver better patient care. We hope this inspires further exploration and collaboration in this critical field.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2025-04-26T12:49:53Z</dcterms:created>
  <dcterms:modified xsi:type="dcterms:W3CDTF">2025-04-26T12:49:53Z</dcterms:modified>
</cp:coreProperties>
</file>